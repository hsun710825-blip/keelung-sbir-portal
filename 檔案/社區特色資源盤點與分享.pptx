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muchbetteradventures.com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://www.herbcottage.com.au" TargetMode="External"/><Relationship Id="rId6" Type="http://schemas.openxmlformats.org/officeDocument/2006/relationships/image" Target="../media/image9.png"/><Relationship Id="rId7" Type="http://schemas.openxmlformats.org/officeDocument/2006/relationships/hyperlink" Target="https://www.taiwan-panorama.com" TargetMode="External"/><Relationship Id="rId8" Type="http://schemas.openxmlformats.org/officeDocument/2006/relationships/image" Target="../media/image10.png"/><Relationship Id="rId9" Type="http://schemas.openxmlformats.org/officeDocument/2006/relationships/hyperlink" Target="https://asianews.network" TargetMode="External"/><Relationship Id="rId1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32000" y="4572000"/>
            <a:ext cx="4572000" cy="4572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Microsoft JhengHei"/>
                <a:ea typeface="Microsoft JhengHei"/>
              </a:rPr>
              <a:t>新竹市農村再生 幹部回訓課程── 綠色照顧與產業輔導工作坊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43000"/>
            <a:ext cx="1104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400" b="1">
                <a:solidFill>
                  <a:srgbClr val="1B5E20"/>
                </a:solidFill>
                <a:latin typeface="Microsoft JhengHei"/>
                <a:ea typeface="Microsoft JhengHei"/>
              </a:rPr>
              <a:t>社區特色資源盤點與分享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1670" y="2667000"/>
            <a:ext cx="3248660" cy="71374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A88A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620" y="2895600"/>
            <a:ext cx="203200" cy="25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80000" y="2794000"/>
            <a:ext cx="24130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8F6966"/>
                </a:solidFill>
                <a:latin typeface="Microsoft JhengHei"/>
                <a:ea typeface="Microsoft JhengHei"/>
              </a:rPr>
              <a:t>[請填寫您的社區名稱]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879600"/>
            <a:ext cx="91440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2616200"/>
            <a:ext cx="91440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社區基本概況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874770"/>
            <a:ext cx="952500" cy="38100"/>
          </a:xfrm>
          <a:prstGeom prst="rect">
            <a:avLst/>
          </a:prstGeom>
          <a:solidFill>
            <a:srgbClr val="AED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4000" y="4419600"/>
            <a:ext cx="9144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>
                <a:solidFill>
                  <a:srgbClr val="DCEDC8"/>
                </a:solidFill>
                <a:latin typeface="Microsoft JhengHei"/>
                <a:ea typeface="Microsoft JhengHei"/>
              </a:rPr>
              <a:t>了解我們生活的這片土地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32000" y="4572000"/>
            <a:ext cx="4572000" cy="4572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6667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0260" y="571500"/>
            <a:ext cx="6350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Microsoft JhengHei"/>
                <a:ea typeface="Microsoft JhengHei"/>
              </a:rPr>
              <a:t>社區地理環境與特色</a:t>
            </a:r>
          </a:p>
        </p:txBody>
      </p:sp>
      <p:pic>
        <p:nvPicPr>
          <p:cNvPr id="6" name="Picture 5" descr="circle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" y="1809750"/>
            <a:ext cx="4286250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34760" y="2603500"/>
            <a:ext cx="5080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Microsoft JhengHei"/>
                <a:ea typeface="Microsoft JhengHei"/>
              </a:rPr>
              <a:t>我們的自然環境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760" y="3048000"/>
            <a:ext cx="5080000" cy="101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在此處簡單描述社區的位置、自然地形、氣候特色，或是最引以為傲的自然景觀。這對於綠色照顧的「綠場域」發展非常重要。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760" y="4165600"/>
            <a:ext cx="508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主要地形：[如 平原、丘陵]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特色植栽：[如 茶樹、楓樹]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發展願景：[如 慢活社區、綠色觀光]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32000" y="4572000"/>
            <a:ext cx="4572000" cy="4572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6667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0260" y="571500"/>
            <a:ext cx="6604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Microsoft JhengHei"/>
                <a:ea typeface="Microsoft JhengHei"/>
              </a:rPr>
              <a:t>社區三大特色資源盤點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067560"/>
            <a:ext cx="3492500" cy="37719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5763260"/>
            <a:ext cx="34925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352040"/>
            <a:ext cx="292100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4216400"/>
            <a:ext cx="2921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Microsoft JhengHei"/>
                <a:ea typeface="Microsoft JhengHei"/>
              </a:rPr>
              <a:t>自然資源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635500"/>
            <a:ext cx="2921000" cy="88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4E4E4E"/>
                </a:solidFill>
                <a:latin typeface="Microsoft JhengHei"/>
                <a:ea typeface="Microsoft JhengHei"/>
              </a:rPr>
              <a:t>例如：社區步道、療癒花園、百年老樹或是特有的自然生態系統。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9750" y="2067560"/>
            <a:ext cx="3492500" cy="37719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9750" y="5763260"/>
            <a:ext cx="34925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ul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2352040"/>
            <a:ext cx="2921000" cy="1714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5500" y="4216400"/>
            <a:ext cx="2921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Microsoft JhengHei"/>
                <a:ea typeface="Microsoft JhengHei"/>
              </a:rPr>
              <a:t>文化與產業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00" y="4635500"/>
            <a:ext cx="2921000" cy="88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4E4E4E"/>
                </a:solidFill>
                <a:latin typeface="Microsoft JhengHei"/>
                <a:ea typeface="Microsoft JhengHei"/>
              </a:rPr>
              <a:t>例如：古厝、傳統手工藝（編織、染布）、特色農作物及其加工品。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2067560"/>
            <a:ext cx="3492500" cy="37719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0" y="5763260"/>
            <a:ext cx="34925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50" y="2352040"/>
            <a:ext cx="2921000" cy="1714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3750" y="4216400"/>
            <a:ext cx="2921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Microsoft JhengHei"/>
                <a:ea typeface="Microsoft JhengHei"/>
              </a:rPr>
              <a:t>人文特色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3750" y="4635500"/>
            <a:ext cx="2921000" cy="88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4E4E4E"/>
                </a:solidFill>
                <a:latin typeface="Microsoft JhengHei"/>
                <a:ea typeface="Microsoft JhengHei"/>
              </a:rPr>
              <a:t>例如：熱情的志工隊、身懷絕技的長輩大師、特有的民俗慶典活動。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32000" y="4572000"/>
            <a:ext cx="4572000" cy="4572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6667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0260" y="571500"/>
            <a:ext cx="6350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Microsoft JhengHei"/>
                <a:ea typeface="Microsoft JhengHei"/>
              </a:rPr>
              <a:t>社區人力與潛力人才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03500"/>
            <a:ext cx="5334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Microsoft JhengHei"/>
                <a:ea typeface="Microsoft JhengHei"/>
              </a:rPr>
              <a:t>誰是我們的關鍵角色？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22600"/>
            <a:ext cx="5334000" cy="69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發展綠色照顧產業需要多元的人力支持，請在此盤點社區內部的核心能量：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0000"/>
            <a:ext cx="5334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領導核心：社區理事長、總幹事及幹部。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導覽專家：熟悉社區故事、植物知識的長輩。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手作職人：擅長烹飪、編織或傳統工藝的居民。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•  熱血志工：參與綠色照顧站運作的穩定人力。</a:t>
            </a:r>
          </a:p>
        </p:txBody>
      </p:sp>
      <p:pic>
        <p:nvPicPr>
          <p:cNvPr id="9" name="Picture 8" descr="ga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760" y="2047240"/>
            <a:ext cx="528574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508500"/>
            <a:ext cx="11049000" cy="635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Microsoft JhengHei"/>
                <a:ea typeface="Microsoft JhengHei"/>
              </a:rPr>
              <a:t>此次課程想討論改善的場域、活化的特色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600700"/>
            <a:ext cx="48260" cy="35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600700"/>
            <a:ext cx="10858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4E4E4E"/>
                </a:solidFill>
                <a:latin typeface="Microsoft JhengHei"/>
                <a:ea typeface="Microsoft JhengHei"/>
              </a:rPr>
              <a:t>請在這裡貼上照片，並說明您希望在工作坊中重點優化的社區角落，或是想嘗試轉化為產業的特色產品。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286000"/>
            <a:ext cx="5334000" cy="5334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32000" y="4572000"/>
            <a:ext cx="4572000" cy="4572000"/>
          </a:xfrm>
          <a:prstGeom prst="ellipse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6667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0260" y="571500"/>
            <a:ext cx="5080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Microsoft JhengHei"/>
                <a:ea typeface="Microsoft JhengHei"/>
              </a:rPr>
              <a:t>Image Sources</a:t>
            </a:r>
          </a:p>
        </p:txBody>
      </p:sp>
      <p:pic>
        <p:nvPicPr>
          <p:cNvPr id="6" name="Picture 5" descr="p7_img1_x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4691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240" y="1845310"/>
            <a:ext cx="9906000" cy="355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4E4E4E"/>
                </a:solidFill>
                <a:latin typeface="Microsoft JhengHei"/>
                <a:ea typeface="Microsoft JhengHei"/>
              </a:rPr>
              <a:t>https://www.muchbetteradventures.com/_next/image/?url=https%3A%2F%2Fimages.ctfassets.net%2Fm5us57n7qfgl%2F2nAbTcSkBPPXs1FFByNDB2%2F57125a808e76aebd272b9c08caf940a5%2Fcycle-mountains-northvietnam-host.jpg&amp;w=2048&amp;q=80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240" y="2175510"/>
            <a:ext cx="9906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1565C0"/>
                </a:solidFill>
                <a:latin typeface="Microsoft JhengHei"/>
                <a:ea typeface="Microsoft JhengHei"/>
                <a:hlinkClick r:id="rId3"/>
              </a:rPr>
              <a:t>Source: www.muchbetteradventures.com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680970"/>
            <a:ext cx="11049000" cy="10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7_img2_x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3083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240" y="2729230"/>
            <a:ext cx="9906000" cy="355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4E4E4E"/>
                </a:solidFill>
                <a:latin typeface="Microsoft JhengHei"/>
                <a:ea typeface="Microsoft JhengHei"/>
              </a:rPr>
              <a:t>http://www.herbcottage.com.au/cdn/shop/articles/pots_of_herbs.jpg?v=1674890466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240" y="3059430"/>
            <a:ext cx="9906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1565C0"/>
                </a:solidFill>
                <a:latin typeface="Microsoft JhengHei"/>
                <a:ea typeface="Microsoft JhengHei"/>
                <a:hlinkClick r:id="rId5"/>
              </a:rPr>
              <a:t>Source: www.herbcottage.com.au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465830"/>
            <a:ext cx="11049000" cy="10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7_img3_x1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1475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240" y="3613150"/>
            <a:ext cx="9906000" cy="355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4E4E4E"/>
                </a:solidFill>
                <a:latin typeface="Microsoft JhengHei"/>
                <a:ea typeface="Microsoft JhengHei"/>
              </a:rPr>
              <a:t>https://www.taiwan-panorama.com/s3/tw-panorama.com/Uploads/2017/12/068/%E8%80%81%E8%8A%B1%E7%A3%9A1.jpg?w=1080&amp;mode=crop&amp;format=webp&amp;quality=80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240" y="3943350"/>
            <a:ext cx="9906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1565C0"/>
                </a:solidFill>
                <a:latin typeface="Microsoft JhengHei"/>
                <a:ea typeface="Microsoft JhengHei"/>
                <a:hlinkClick r:id="rId7"/>
              </a:rPr>
              <a:t>Source: www.taiwan-panorama.com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448810"/>
            <a:ext cx="11049000" cy="10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7_img4_x1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9867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240" y="4497070"/>
            <a:ext cx="9906000" cy="355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4E4E4E"/>
                </a:solidFill>
                <a:latin typeface="Microsoft JhengHei"/>
                <a:ea typeface="Microsoft JhengHei"/>
              </a:rPr>
              <a:t>https://asianews.network/wp-content/uploads/2026/07/6a5d8418a310986e1019e82b.jpg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240" y="4827270"/>
            <a:ext cx="9906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1565C0"/>
                </a:solidFill>
                <a:latin typeface="Microsoft JhengHei"/>
                <a:ea typeface="Microsoft JhengHei"/>
                <a:hlinkClick r:id="rId9"/>
              </a:rPr>
              <a:t>Source: asianews.network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5233670"/>
            <a:ext cx="11049000" cy="10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7_img5_x1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8259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6240" y="5380990"/>
            <a:ext cx="9906000" cy="355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4E4E4E"/>
                </a:solidFill>
                <a:latin typeface="Microsoft JhengHei"/>
                <a:ea typeface="Microsoft JhengHei"/>
              </a:rPr>
              <a:t>https://www.taiwan-panorama.com/s3/tw-panorama.com/Uploads/%E6%96%87%E7%AB%A0/%E4%B8%AD%E8%8B%B1/2009/08/074/%E6%9D%BE%E8%8F%B809.jpg?w=1080&amp;mode=crop&amp;format=webp&amp;quality=80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240" y="5711190"/>
            <a:ext cx="9906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1565C0"/>
                </a:solidFill>
                <a:latin typeface="Microsoft JhengHei"/>
                <a:ea typeface="Microsoft JhengHei"/>
                <a:hlinkClick r:id="rId7"/>
              </a:rPr>
              <a:t>Source: www.taiwan-panorama.com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社區特色資源盤點與分享</dc:title>
  <dc:subject/>
  <dc:creator>Keelung SBIR / converted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